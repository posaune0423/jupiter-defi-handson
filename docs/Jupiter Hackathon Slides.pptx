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t87ZJc3C7zZwAf+4u50fqN3N/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D63EA1-2E47-4CFC-8344-075A6E592374}">
  <a:tblStyle styleId="{02D63EA1-2E47-4CFC-8344-075A6E59237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c952735e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dc952735e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dc952735e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00C2FF"/>
          </a:solidFill>
          <a:ln cap="flat" cmpd="sng" w="12700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132320" y="274320"/>
            <a:ext cx="1645920" cy="1645920"/>
          </a:xfrm>
          <a:prstGeom prst="roundRect">
            <a:avLst>
              <a:gd fmla="val 16667" name="adj"/>
            </a:avLst>
          </a:prstGeom>
          <a:solidFill>
            <a:srgbClr val="0D1F3C"/>
          </a:solidFill>
          <a:ln cap="flat" cmpd="sng" w="19050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132320" y="274320"/>
            <a:ext cx="1645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FF"/>
              </a:buClr>
              <a:buSzPts val="4200"/>
              <a:buFont typeface="Times New Roman"/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2200"/>
              <a:buFont typeface="Times New Roman"/>
              <a:buNone/>
            </a:pPr>
            <a:r>
              <a:rPr b="0" i="0" lang="en-US" sz="2200" u="none" cap="none" strike="noStrike">
                <a:solidFill>
                  <a:srgbClr val="A8C4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Jupiter Agent Skills で拓く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96012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× DeFi の最前線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457200" y="1874520"/>
            <a:ext cx="5943600" cy="0"/>
          </a:xfrm>
          <a:prstGeom prst="straightConnector1">
            <a:avLst/>
          </a:prstGeom>
          <a:noFill/>
          <a:ln cap="flat" cmpd="sng" w="19050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457200" y="20116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ハッカソンで使えるUltra Swap最小実装 &amp; エラーハンドリング完全ガイド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44805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Clawathon Tokyo Edition  | 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Presented by SuzuPay × Jupiter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本日のアジェンダ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20040" y="960120"/>
            <a:ext cx="658368" cy="475488"/>
          </a:xfrm>
          <a:prstGeom prst="rect">
            <a:avLst/>
          </a:prstGeom>
          <a:solidFill>
            <a:srgbClr val="A8C4E0"/>
          </a:solidFill>
          <a:ln cap="flat" cmpd="sng" w="12700">
            <a:solidFill>
              <a:srgbClr val="A8C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20040" y="960120"/>
            <a:ext cx="6583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5分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051560" y="960120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1B3A6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①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463040" y="978408"/>
            <a:ext cx="7132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オープニング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463040" y="1207008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ゴール・アジェンダ / Jupiterエコシステム概要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" name="Google Shape;37;p2"/>
          <p:cNvCxnSpPr/>
          <p:nvPr/>
        </p:nvCxnSpPr>
        <p:spPr>
          <a:xfrm>
            <a:off x="320040" y="1463040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2"/>
          <p:cNvSpPr/>
          <p:nvPr/>
        </p:nvSpPr>
        <p:spPr>
          <a:xfrm>
            <a:off x="320040" y="1618488"/>
            <a:ext cx="658368" cy="475488"/>
          </a:xfrm>
          <a:prstGeom prst="rect">
            <a:avLst/>
          </a:prstGeom>
          <a:solidFill>
            <a:srgbClr val="00C2FF"/>
          </a:solidFill>
          <a:ln cap="flat" cmpd="sng" w="12700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320040" y="1618488"/>
            <a:ext cx="6583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10分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51560" y="1618488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1B3A6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463040" y="1636776"/>
            <a:ext cx="7132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【デモ先行】AI × DeFiの世界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463040" y="1865376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AIエージェントによる自律トレード実演 / Why Jupiter?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2"/>
          <p:cNvCxnSpPr/>
          <p:nvPr/>
        </p:nvCxnSpPr>
        <p:spPr>
          <a:xfrm>
            <a:off x="320040" y="2121408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2"/>
          <p:cNvSpPr/>
          <p:nvPr/>
        </p:nvSpPr>
        <p:spPr>
          <a:xfrm>
            <a:off x="320040" y="2276856"/>
            <a:ext cx="658368" cy="475488"/>
          </a:xfrm>
          <a:prstGeom prst="rect">
            <a:avLst/>
          </a:prstGeom>
          <a:solidFill>
            <a:srgbClr val="00D084"/>
          </a:solidFill>
          <a:ln cap="flat" cmpd="sng" w="12700">
            <a:solidFill>
              <a:srgbClr val="00D0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320040" y="2276856"/>
            <a:ext cx="6583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10分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051560" y="2276856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1B3A6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③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463040" y="2295144"/>
            <a:ext cx="7132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DeFi課題解決 &amp; Agent Skillsアーキテクチャ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463040" y="2523744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複雑なUXをAIが解決 / SKILL.mdの仕組み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2"/>
          <p:cNvCxnSpPr/>
          <p:nvPr/>
        </p:nvCxnSpPr>
        <p:spPr>
          <a:xfrm>
            <a:off x="320040" y="2779776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2"/>
          <p:cNvSpPr/>
          <p:nvPr/>
        </p:nvSpPr>
        <p:spPr>
          <a:xfrm>
            <a:off x="320040" y="2935224"/>
            <a:ext cx="658368" cy="47548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320040" y="2935224"/>
            <a:ext cx="6583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20分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051560" y="2935224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1B3A6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④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463040" y="2953512"/>
            <a:ext cx="7132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【ハンズオン】最小実装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463040" y="3182112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Ultra Swap / DCA自動化 / Lend組み込み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" name="Google Shape;55;p2"/>
          <p:cNvCxnSpPr/>
          <p:nvPr/>
        </p:nvCxnSpPr>
        <p:spPr>
          <a:xfrm>
            <a:off x="320040" y="3438144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2"/>
          <p:cNvSpPr/>
          <p:nvPr/>
        </p:nvSpPr>
        <p:spPr>
          <a:xfrm>
            <a:off x="320040" y="3593592"/>
            <a:ext cx="658368" cy="475488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320040" y="3593592"/>
            <a:ext cx="6583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10分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051560" y="3593592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1B3A6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⑤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463040" y="3611880"/>
            <a:ext cx="7132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エラーハンドリング &amp; Gotchas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463040" y="3840480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TTL・冪等性・Rate Limit・リトライ戦略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2"/>
          <p:cNvCxnSpPr/>
          <p:nvPr/>
        </p:nvCxnSpPr>
        <p:spPr>
          <a:xfrm>
            <a:off x="320040" y="4096512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2"/>
          <p:cNvSpPr/>
          <p:nvPr/>
        </p:nvSpPr>
        <p:spPr>
          <a:xfrm>
            <a:off x="320040" y="4251960"/>
            <a:ext cx="658368" cy="475488"/>
          </a:xfrm>
          <a:prstGeom prst="rect">
            <a:avLst/>
          </a:prstGeom>
          <a:solidFill>
            <a:srgbClr val="8C8C8C"/>
          </a:solidFill>
          <a:ln cap="flat" cmpd="sng" w="12700">
            <a:solidFill>
              <a:srgbClr val="8C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320040" y="4251960"/>
            <a:ext cx="6583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5分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051560" y="4251960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1B3A6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⑥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1463040" y="4270248"/>
            <a:ext cx="7132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Q&amp;A・クロージング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1463040" y="4498848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質疑応答 / SuzuPay &amp; Jupiterからのご案内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365760" y="489204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© Jupiter × SuzuPay  |  Clawathon Tokyo Edition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822960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2 / 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Jupiterエコシステム：開発者にとっての立ち位置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474720" y="1737360"/>
            <a:ext cx="2194560" cy="2194560"/>
          </a:xfrm>
          <a:prstGeom prst="ellipse">
            <a:avLst/>
          </a:prstGeom>
          <a:solidFill>
            <a:srgbClr val="1B3A6B"/>
          </a:solidFill>
          <a:ln cap="flat" cmpd="sng" w="31750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3474720" y="1737360"/>
            <a:ext cx="21945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Jupiter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Hub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74320" y="914400"/>
            <a:ext cx="2011680" cy="822960"/>
          </a:xfrm>
          <a:prstGeom prst="roundRect">
            <a:avLst>
              <a:gd fmla="val 13333" name="adj"/>
            </a:avLst>
          </a:prstGeom>
          <a:solidFill>
            <a:srgbClr val="F8F9FA"/>
          </a:solidFill>
          <a:ln cap="flat" cmpd="sng" w="19050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274320" y="91440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Ultra Swap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(最良レート集約)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675120" y="914400"/>
            <a:ext cx="2011680" cy="822960"/>
          </a:xfrm>
          <a:prstGeom prst="roundRect">
            <a:avLst>
              <a:gd fmla="val 13333" name="adj"/>
            </a:avLst>
          </a:prstGeom>
          <a:solidFill>
            <a:srgbClr val="F8F9FA"/>
          </a:solidFill>
          <a:ln cap="flat" cmpd="sng" w="19050">
            <a:solidFill>
              <a:srgbClr val="00D0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6675120" y="91440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Trigger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(条件付き注文)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675120" y="3200400"/>
            <a:ext cx="2011680" cy="822960"/>
          </a:xfrm>
          <a:prstGeom prst="roundRect">
            <a:avLst>
              <a:gd fmla="val 13333" name="adj"/>
            </a:avLst>
          </a:prstGeom>
          <a:solidFill>
            <a:srgbClr val="F8F9FA"/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6675120" y="320040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Recurring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(DCA自動化)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74320" y="3200400"/>
            <a:ext cx="2011680" cy="822960"/>
          </a:xfrm>
          <a:prstGeom prst="roundRect">
            <a:avLst>
              <a:gd fmla="val 13333" name="adj"/>
            </a:avLst>
          </a:prstGeom>
          <a:solidFill>
            <a:srgbClr val="F8F9FA"/>
          </a:solidFill>
          <a:ln cap="flat" cmpd="sng" w="1905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274320" y="320040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(Fluid Protocol)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383280" y="4206240"/>
            <a:ext cx="2011680" cy="822960"/>
          </a:xfrm>
          <a:prstGeom prst="roundRect">
            <a:avLst>
              <a:gd fmla="val 13333" name="adj"/>
            </a:avLst>
          </a:prstGeom>
          <a:solidFill>
            <a:srgbClr val="F8F9FA"/>
          </a:solidFill>
          <a:ln cap="flat" cmpd="sng" w="1905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3383280" y="420624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Price / Token API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(データフィード)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65760" y="489204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© Jupiter × SuzuPay  |  Clawathon Tokyo Edition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822960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3 / 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D1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00C2FF"/>
          </a:solidFill>
          <a:ln cap="flat" cmpd="sng" w="12700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2FF"/>
                </a:solidFill>
                <a:latin typeface="Calibri"/>
                <a:ea typeface="Calibri"/>
                <a:cs typeface="Calibri"/>
                <a:sym typeface="Calibri"/>
              </a:rPr>
              <a:t>SECTION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57200" y="1737360"/>
            <a:ext cx="8229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【デモ先行】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Jupiter Agent Skills が実現する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× DeFi の世界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57200" y="43891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10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【実演デモ】自然言語からJupiter APIが動く世界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274320" y="1005840"/>
            <a:ext cx="2011680" cy="1371600"/>
          </a:xfrm>
          <a:prstGeom prst="roundRect">
            <a:avLst>
              <a:gd fmla="val 8000" name="adj"/>
            </a:avLst>
          </a:prstGeom>
          <a:solidFill>
            <a:srgbClr val="F0F4F8"/>
          </a:solidFill>
          <a:ln cap="flat" cmpd="sng" w="25400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274320" y="100584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2FF"/>
                </a:solidFill>
                <a:latin typeface="Calibri"/>
                <a:ea typeface="Calibri"/>
                <a:cs typeface="Calibri"/>
                <a:sym typeface="Calibri"/>
              </a:rPr>
              <a:t>ユーザー指示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2FF"/>
                </a:solidFill>
                <a:latin typeface="Calibri"/>
                <a:ea typeface="Calibri"/>
                <a:cs typeface="Calibri"/>
                <a:sym typeface="Calibri"/>
              </a:rPr>
              <a:t>（自然言語）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5"/>
          <p:cNvCxnSpPr/>
          <p:nvPr/>
        </p:nvCxnSpPr>
        <p:spPr>
          <a:xfrm>
            <a:off x="365760" y="1719072"/>
            <a:ext cx="1828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5"/>
          <p:cNvSpPr/>
          <p:nvPr/>
        </p:nvSpPr>
        <p:spPr>
          <a:xfrm>
            <a:off x="274320" y="1764792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"SOLを1000 USDCに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換えて。安くなったら"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5"/>
          <p:cNvCxnSpPr/>
          <p:nvPr/>
        </p:nvCxnSpPr>
        <p:spPr>
          <a:xfrm>
            <a:off x="2304288" y="1691640"/>
            <a:ext cx="420624" cy="0"/>
          </a:xfrm>
          <a:prstGeom prst="straightConnector1">
            <a:avLst/>
          </a:prstGeom>
          <a:noFill/>
          <a:ln cap="flat" cmpd="sng" w="25400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5"/>
          <p:cNvSpPr/>
          <p:nvPr/>
        </p:nvSpPr>
        <p:spPr>
          <a:xfrm>
            <a:off x="2532888" y="1627632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C2F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2468880" y="1005840"/>
            <a:ext cx="2011680" cy="1371600"/>
          </a:xfrm>
          <a:prstGeom prst="roundRect">
            <a:avLst>
              <a:gd fmla="val 8000" name="adj"/>
            </a:avLst>
          </a:prstGeom>
          <a:solidFill>
            <a:srgbClr val="F0F4F8"/>
          </a:solidFill>
          <a:ln cap="flat" cmpd="sng" w="254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2468880" y="100584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AIエージェント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Intent解釈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5"/>
          <p:cNvCxnSpPr/>
          <p:nvPr/>
        </p:nvCxnSpPr>
        <p:spPr>
          <a:xfrm>
            <a:off x="2560320" y="1719072"/>
            <a:ext cx="1828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5"/>
          <p:cNvSpPr/>
          <p:nvPr/>
        </p:nvSpPr>
        <p:spPr>
          <a:xfrm>
            <a:off x="2468880" y="1764792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SKILL.mdを参照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パラメータ抽出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5"/>
          <p:cNvCxnSpPr/>
          <p:nvPr/>
        </p:nvCxnSpPr>
        <p:spPr>
          <a:xfrm>
            <a:off x="4498848" y="1691640"/>
            <a:ext cx="420624" cy="0"/>
          </a:xfrm>
          <a:prstGeom prst="straightConnector1">
            <a:avLst/>
          </a:prstGeom>
          <a:noFill/>
          <a:ln cap="flat" cmpd="sng" w="25400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5"/>
          <p:cNvSpPr/>
          <p:nvPr/>
        </p:nvSpPr>
        <p:spPr>
          <a:xfrm>
            <a:off x="4727448" y="1627632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C2F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663440" y="1005840"/>
            <a:ext cx="2011680" cy="1371600"/>
          </a:xfrm>
          <a:prstGeom prst="roundRect">
            <a:avLst>
              <a:gd fmla="val 8000" name="adj"/>
            </a:avLst>
          </a:prstGeom>
          <a:solidFill>
            <a:srgbClr val="F0F4F8"/>
          </a:solidFill>
          <a:ln cap="flat" cmpd="sng" w="254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4663440" y="100584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Jupiter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呼び出し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5"/>
          <p:cNvCxnSpPr/>
          <p:nvPr/>
        </p:nvCxnSpPr>
        <p:spPr>
          <a:xfrm>
            <a:off x="4754880" y="1719072"/>
            <a:ext cx="1828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5"/>
          <p:cNvSpPr/>
          <p:nvPr/>
        </p:nvSpPr>
        <p:spPr>
          <a:xfrm>
            <a:off x="4663440" y="1764792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GET /order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POST /execute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5"/>
          <p:cNvCxnSpPr/>
          <p:nvPr/>
        </p:nvCxnSpPr>
        <p:spPr>
          <a:xfrm>
            <a:off x="6693408" y="1691640"/>
            <a:ext cx="420624" cy="0"/>
          </a:xfrm>
          <a:prstGeom prst="straightConnector1">
            <a:avLst/>
          </a:prstGeom>
          <a:noFill/>
          <a:ln cap="flat" cmpd="sng" w="25400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5"/>
          <p:cNvSpPr/>
          <p:nvPr/>
        </p:nvSpPr>
        <p:spPr>
          <a:xfrm>
            <a:off x="6922008" y="1627632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C2F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858000" y="1005840"/>
            <a:ext cx="2011680" cy="1371600"/>
          </a:xfrm>
          <a:prstGeom prst="roundRect">
            <a:avLst>
              <a:gd fmla="val 8000" name="adj"/>
            </a:avLst>
          </a:prstGeom>
          <a:solidFill>
            <a:srgbClr val="F0F4F8"/>
          </a:solidFill>
          <a:ln cap="flat" cmpd="sng" w="25400">
            <a:solidFill>
              <a:srgbClr val="00D0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6858000" y="100584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08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084"/>
                </a:solidFill>
                <a:latin typeface="Calibri"/>
                <a:ea typeface="Calibri"/>
                <a:cs typeface="Calibri"/>
                <a:sym typeface="Calibri"/>
              </a:rPr>
              <a:t>トランザクション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08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084"/>
                </a:solidFill>
                <a:latin typeface="Calibri"/>
                <a:ea typeface="Calibri"/>
                <a:cs typeface="Calibri"/>
                <a:sym typeface="Calibri"/>
              </a:rPr>
              <a:t>署名・送信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5"/>
          <p:cNvCxnSpPr/>
          <p:nvPr/>
        </p:nvCxnSpPr>
        <p:spPr>
          <a:xfrm>
            <a:off x="6949440" y="1719072"/>
            <a:ext cx="1828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5"/>
          <p:cNvSpPr/>
          <p:nvPr/>
        </p:nvSpPr>
        <p:spPr>
          <a:xfrm>
            <a:off x="6858000" y="1764792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VersionedTx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Solana RPC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65760" y="2606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デモユースケース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20040" y="2944368"/>
            <a:ext cx="4206240" cy="713232"/>
          </a:xfrm>
          <a:prstGeom prst="roundRect">
            <a:avLst>
              <a:gd fmla="val 10256" name="adj"/>
            </a:avLst>
          </a:prstGeom>
          <a:solidFill>
            <a:srgbClr val="F8F9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429768" y="2990088"/>
            <a:ext cx="39319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🔄  即時スワップ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29768" y="324612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"今すぐSOL → USDCに換えて" → Ultra Swap自動実行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754880" y="2944368"/>
            <a:ext cx="4206240" cy="713232"/>
          </a:xfrm>
          <a:prstGeom prst="roundRect">
            <a:avLst>
              <a:gd fmla="val 10256" name="adj"/>
            </a:avLst>
          </a:prstGeom>
          <a:solidFill>
            <a:srgbClr val="F8F9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4864608" y="2990088"/>
            <a:ext cx="39319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📅  DCA自動化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864608" y="324612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"毎週月曜にSOL 100ドル積立" → Recurringトリガー設定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20040" y="3767328"/>
            <a:ext cx="4206240" cy="713232"/>
          </a:xfrm>
          <a:prstGeom prst="roundRect">
            <a:avLst>
              <a:gd fmla="val 10256" name="adj"/>
            </a:avLst>
          </a:prstGeom>
          <a:solidFill>
            <a:srgbClr val="F8F9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429768" y="3813048"/>
            <a:ext cx="39319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⚡  条件付き注文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29768" y="406908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"SOLが150ドルを超えたら売り" → Trigger Order登録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754880" y="3767328"/>
            <a:ext cx="4206240" cy="713232"/>
          </a:xfrm>
          <a:prstGeom prst="roundRect">
            <a:avLst>
              <a:gd fmla="val 10256" name="adj"/>
            </a:avLst>
          </a:prstGeom>
          <a:solidFill>
            <a:srgbClr val="F8F9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4864608" y="3813048"/>
            <a:ext cx="39319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🏦  Lend（貸借）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864608" y="406908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"USDCを預けて利回りを得たい" → Fluid Protocol経由で入金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65760" y="489204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© Jupiter × SuzuPay  |  Clawathon Tokyo Edition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822960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5 / 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c952735e2_0_0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dc952735e2_0_0"/>
          <p:cNvSpPr/>
          <p:nvPr/>
        </p:nvSpPr>
        <p:spPr>
          <a:xfrm>
            <a:off x="365760" y="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デモ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dc952735e2_0_0"/>
          <p:cNvSpPr/>
          <p:nvPr/>
        </p:nvSpPr>
        <p:spPr>
          <a:xfrm>
            <a:off x="365760" y="4892040"/>
            <a:ext cx="7315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© Jupiter × SuzuPay  |  Clawathon Tokyo Edition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dc952735e2_0_0"/>
          <p:cNvSpPr/>
          <p:nvPr/>
        </p:nvSpPr>
        <p:spPr>
          <a:xfrm>
            <a:off x="8229600" y="4892040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5 / 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Jupiter？ — ビルダー視点の3つの理由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20040" y="1005840"/>
            <a:ext cx="8503920" cy="1170432"/>
          </a:xfrm>
          <a:prstGeom prst="roundRect">
            <a:avLst>
              <a:gd fmla="val 7813" name="adj"/>
            </a:avLst>
          </a:prstGeom>
          <a:solidFill>
            <a:srgbClr val="F8F9FB"/>
          </a:solidFill>
          <a:ln cap="flat" cmpd="sng" w="19050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457200" y="1170432"/>
            <a:ext cx="594360" cy="594360"/>
          </a:xfrm>
          <a:prstGeom prst="ellipse">
            <a:avLst/>
          </a:prstGeom>
          <a:solidFill>
            <a:srgbClr val="00C2FF"/>
          </a:solidFill>
          <a:ln cap="flat" cmpd="sng" w="12700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457200" y="117043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1170432" y="1097280"/>
            <a:ext cx="7132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流動性の集約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1170432" y="1444752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• Metis / JupiterZ / DFlow / OKX — 4つのルーターが競合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170432" y="1682496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• 1 APIコールで最良レートを自動選択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170432" y="1920240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• Split order/executeでリアルタイム流動性取得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20040" y="2304288"/>
            <a:ext cx="8503920" cy="1170432"/>
          </a:xfrm>
          <a:prstGeom prst="roundRect">
            <a:avLst>
              <a:gd fmla="val 7813" name="adj"/>
            </a:avLst>
          </a:prstGeom>
          <a:solidFill>
            <a:srgbClr val="F8F9FB"/>
          </a:solidFill>
          <a:ln cap="flat" cmpd="sng" w="19050">
            <a:solidFill>
              <a:srgbClr val="00D0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457200" y="2468880"/>
            <a:ext cx="594360" cy="594360"/>
          </a:xfrm>
          <a:prstGeom prst="ellipse">
            <a:avLst/>
          </a:prstGeom>
          <a:solidFill>
            <a:srgbClr val="00D084"/>
          </a:solidFill>
          <a:ln cap="flat" cmpd="sng" w="12700">
            <a:solidFill>
              <a:srgbClr val="00D0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457200" y="24688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170432" y="2395728"/>
            <a:ext cx="7132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APIの圧倒的な使いやすさ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170432" y="2743200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• RESTful設計 — GET /order → POST /execute の2ステップ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170432" y="2980944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• ガスレス対応（条件次第でJupiterがSOL手数料を負担）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170432" y="3218688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• TypeScript / Python SDKで即日統合可能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20040" y="3602736"/>
            <a:ext cx="8503920" cy="1170432"/>
          </a:xfrm>
          <a:prstGeom prst="roundRect">
            <a:avLst>
              <a:gd fmla="val 7813" name="adj"/>
            </a:avLst>
          </a:prstGeom>
          <a:solidFill>
            <a:srgbClr val="F8F9FB"/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457200" y="3767328"/>
            <a:ext cx="594360" cy="594360"/>
          </a:xfrm>
          <a:prstGeom prst="ellipse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457200" y="3767328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1170432" y="3694176"/>
            <a:ext cx="7132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Agent Skillsによる統合の容易さ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1170432" y="4041648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• SKILL.md — AIへのAPI仕様パッケージング標準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1170432" y="4279392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• 自然言語のIntentを構造化パラメータに変換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1170432" y="4517136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• ハッカソンで数時間以内に動くものが作れる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65760" y="489204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© Jupiter × SuzuPay  |  Clawathon Tokyo Edition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822960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6 / 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D1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00D084"/>
          </a:solidFill>
          <a:ln cap="flat" cmpd="sng" w="12700">
            <a:solidFill>
              <a:srgbClr val="00D0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08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D084"/>
                </a:solidFill>
                <a:latin typeface="Calibri"/>
                <a:ea typeface="Calibri"/>
                <a:cs typeface="Calibri"/>
                <a:sym typeface="Calibri"/>
              </a:rPr>
              <a:t>SECTION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57200" y="1737360"/>
            <a:ext cx="8229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DeFiの課題解決と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 Skillsアーキテクチャ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57200" y="43891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10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 Skillsの仕組み：SKILL.mdがAIとAPIをつなぐ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1371600" y="960120"/>
            <a:ext cx="6400800" cy="685800"/>
          </a:xfrm>
          <a:prstGeom prst="rect">
            <a:avLst/>
          </a:prstGeom>
          <a:solidFill>
            <a:srgbClr val="00C2FF"/>
          </a:solidFill>
          <a:ln cap="flat" cmpd="sng" w="12700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1371600" y="96012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ユーザー / AI Agent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8"/>
          <p:cNvCxnSpPr/>
          <p:nvPr/>
        </p:nvCxnSpPr>
        <p:spPr>
          <a:xfrm>
            <a:off x="3950208" y="1051560"/>
            <a:ext cx="0" cy="50292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8"/>
          <p:cNvSpPr/>
          <p:nvPr/>
        </p:nvSpPr>
        <p:spPr>
          <a:xfrm>
            <a:off x="4023360" y="96012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自然言語での指示・Intentの発行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8"/>
          <p:cNvCxnSpPr/>
          <p:nvPr/>
        </p:nvCxnSpPr>
        <p:spPr>
          <a:xfrm>
            <a:off x="4544568" y="1664208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8"/>
          <p:cNvSpPr/>
          <p:nvPr/>
        </p:nvSpPr>
        <p:spPr>
          <a:xfrm>
            <a:off x="4379976" y="17099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1371600" y="1828800"/>
            <a:ext cx="6400800" cy="685800"/>
          </a:xfrm>
          <a:prstGeom prst="rect">
            <a:avLst/>
          </a:prstGeom>
          <a:solidFill>
            <a:srgbClr val="00D084"/>
          </a:solidFill>
          <a:ln cap="flat" cmpd="sng" w="12700">
            <a:solidFill>
              <a:srgbClr val="00D0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1371600" y="182880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SKILL.md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8"/>
          <p:cNvCxnSpPr/>
          <p:nvPr/>
        </p:nvCxnSpPr>
        <p:spPr>
          <a:xfrm>
            <a:off x="3950208" y="1920240"/>
            <a:ext cx="0" cy="50292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8"/>
          <p:cNvSpPr/>
          <p:nvPr/>
        </p:nvSpPr>
        <p:spPr>
          <a:xfrm>
            <a:off x="4023360" y="182880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APIの仕様・認証・エラーパターン・ベストプラクティスをAI向けにパッケージング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8"/>
          <p:cNvCxnSpPr/>
          <p:nvPr/>
        </p:nvCxnSpPr>
        <p:spPr>
          <a:xfrm>
            <a:off x="4544568" y="2532888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8"/>
          <p:cNvSpPr/>
          <p:nvPr/>
        </p:nvSpPr>
        <p:spPr>
          <a:xfrm>
            <a:off x="4379976" y="257860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371600" y="2697480"/>
            <a:ext cx="64008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1371600" y="269748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Jupiter API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8"/>
          <p:cNvCxnSpPr/>
          <p:nvPr/>
        </p:nvCxnSpPr>
        <p:spPr>
          <a:xfrm>
            <a:off x="3950208" y="2788920"/>
            <a:ext cx="0" cy="50292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8"/>
          <p:cNvSpPr/>
          <p:nvPr/>
        </p:nvSpPr>
        <p:spPr>
          <a:xfrm>
            <a:off x="4023360" y="269748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 /order（クォート）→ POST /execute（実行）→ 署名・送信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8"/>
          <p:cNvCxnSpPr/>
          <p:nvPr/>
        </p:nvCxnSpPr>
        <p:spPr>
          <a:xfrm>
            <a:off x="4544568" y="3401568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8"/>
          <p:cNvSpPr/>
          <p:nvPr/>
        </p:nvSpPr>
        <p:spPr>
          <a:xfrm>
            <a:off x="4379976" y="344728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371600" y="3566160"/>
            <a:ext cx="6400800" cy="685800"/>
          </a:xfrm>
          <a:prstGeom prst="rect">
            <a:avLst/>
          </a:prstGeom>
          <a:solidFill>
            <a:srgbClr val="2E5FA3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1371600" y="356616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Solanaブロックチェーン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8"/>
          <p:cNvCxnSpPr/>
          <p:nvPr/>
        </p:nvCxnSpPr>
        <p:spPr>
          <a:xfrm>
            <a:off x="3950208" y="3657600"/>
            <a:ext cx="0" cy="50292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8"/>
          <p:cNvSpPr/>
          <p:nvPr/>
        </p:nvSpPr>
        <p:spPr>
          <a:xfrm>
            <a:off x="4023360" y="356616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VersionedTransaction、RPC経由でオンチェーン確定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 rot="5400000">
            <a:off x="8046720" y="960120"/>
            <a:ext cx="914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SKILL.mdに含まれる情報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7863840" y="1737360"/>
            <a:ext cx="1143000" cy="2377440"/>
          </a:xfrm>
          <a:prstGeom prst="roundRect">
            <a:avLst>
              <a:gd fmla="val 8000" name="adj"/>
            </a:avLst>
          </a:prstGeom>
          <a:solidFill>
            <a:srgbClr val="EFF6FF"/>
          </a:solidFill>
          <a:ln cap="flat" cmpd="sng" w="19050">
            <a:solidFill>
              <a:srgbClr val="00D0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7882128" y="18288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エンドポイント一覧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7882128" y="2176272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認証方法(x-api-key)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7882128" y="2523744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エラーコード対応表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7882128" y="2871216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Gotchas（罠）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7882128" y="3218688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リトライ戦略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7882128" y="356616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コード例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365760" y="489204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© Jupiter × SuzuPay  |  Clawathon Tokyo Edition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822960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8 / 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D1A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SECTION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57200" y="1554480"/>
            <a:ext cx="82296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【ハンズオン】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ハッカソンですぐ使える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最小実装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20 min  —  Ultra Swap / DCA / Lend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Ultra Swap 最小構成：3ステップで動かす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228600" y="914400"/>
            <a:ext cx="2834640" cy="457200"/>
          </a:xfrm>
          <a:prstGeom prst="rect">
            <a:avLst/>
          </a:prstGeom>
          <a:solidFill>
            <a:srgbClr val="00C2FF"/>
          </a:solidFill>
          <a:ln cap="flat" cmpd="sng" w="12700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228600" y="91440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  クォート取得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320040" y="1444752"/>
            <a:ext cx="640080" cy="201168"/>
          </a:xfrm>
          <a:prstGeom prst="roundRect">
            <a:avLst>
              <a:gd fmla="val 18182" name="adj"/>
            </a:avLst>
          </a:prstGeom>
          <a:solidFill>
            <a:srgbClr val="00C2FF"/>
          </a:solidFill>
          <a:ln cap="flat" cmpd="sng" w="12700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320040" y="144475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1005840" y="1444752"/>
            <a:ext cx="1965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/swap/v2/order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228600" y="1691640"/>
            <a:ext cx="2834640" cy="256032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320040" y="1755648"/>
            <a:ext cx="265176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const res = await fetch(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`${BASE}/swap/v2/order?` +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`inputMint=${SOL}&amp;`+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`outputMint=${USDC}&amp;`+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`amount=1000000000&amp;`+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`taker=${wallet.publicKey}`,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{ headers 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const { transaction, requestId 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= await res.json();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3081528" y="2560320"/>
            <a:ext cx="1097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3200400" y="914400"/>
            <a:ext cx="2834640" cy="457200"/>
          </a:xfrm>
          <a:prstGeom prst="rect">
            <a:avLst/>
          </a:prstGeom>
          <a:solidFill>
            <a:srgbClr val="00D084"/>
          </a:solidFill>
          <a:ln cap="flat" cmpd="sng" w="12700">
            <a:solidFill>
              <a:srgbClr val="00D0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3200400" y="91440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  署名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3291840" y="1444752"/>
            <a:ext cx="640080" cy="201168"/>
          </a:xfrm>
          <a:prstGeom prst="roundRect">
            <a:avLst>
              <a:gd fmla="val 18182" name="adj"/>
            </a:avLst>
          </a:prstGeom>
          <a:solidFill>
            <a:srgbClr val="00D084"/>
          </a:solidFill>
          <a:ln cap="flat" cmpd="sng" w="12700">
            <a:solidFill>
              <a:srgbClr val="00D0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3291840" y="144475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3977640" y="1444752"/>
            <a:ext cx="1965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VersionedTransaction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3200400" y="1691640"/>
            <a:ext cx="2834640" cy="256032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3291840" y="1755648"/>
            <a:ext cx="265176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const tx = VersionedTransaction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.deserialize(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Buffer.from(transaction,'base64')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tx.sign([wallet]);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const signed = Buffer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.from(tx.serialize())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.toString('base64');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053328" y="2560320"/>
            <a:ext cx="1097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6172200" y="914400"/>
            <a:ext cx="2834640" cy="4572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6172200" y="91440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  実行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6263640" y="1444752"/>
            <a:ext cx="640080" cy="201168"/>
          </a:xfrm>
          <a:prstGeom prst="roundRect">
            <a:avLst>
              <a:gd fmla="val 18182" name="adj"/>
            </a:avLst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6263640" y="144475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6949440" y="1444752"/>
            <a:ext cx="1965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/swap/v2/execute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6172200" y="1691640"/>
            <a:ext cx="2834640" cy="256032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6263640" y="1755648"/>
            <a:ext cx="265176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const result = await fetch(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`${BASE}/swap/v2/execute`,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method: 'POST',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headers,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body: JSON.stringify({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  signedTransaction: signed,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  requestId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})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274320" y="4370832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⚠  署名後のTTL：約2分  |  同じrequestId + signedTransactionで冪等性あり（再送OK）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365760" y="489204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© Jupiter × SuzuPay  |  Clawathon Tokyo Edition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822960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10 / 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拡張ユースケース：DCA自動化 &amp; Lend（貸借）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📅  Recurring（DCA：毎日/毎週の積立）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274320" y="1325880"/>
            <a:ext cx="4114800" cy="210312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365760" y="1389888"/>
            <a:ext cx="3913632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// DCA注文作成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POST /recurring/v1/createOrder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"user": "&lt;wallet&gt;",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"inputMint": "USDC_MINT",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"outputMint": "SOL_MINT",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"inAmount": "100000000", // 100 USDC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"inAmountPerCycle": "10000000",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"cycleSecondsApart": 86400, // 1日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"numberOfTrades": 10,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"startAt": null  // 今すぐ開始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274320" y="3493008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Triggerも同様：条件達成時に自動実行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POST /trigger/v1/createOrder で価格条件を指定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🏦  Lend（Fluid Protocol — 預け入れ）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4754880" y="1325880"/>
            <a:ext cx="4114800" cy="210312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4846320" y="1389888"/>
            <a:ext cx="3913632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// 利用可能マーケット一覧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GET /lend/v1/markets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// 預け入れ（Deposit）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POST /lend/v1/deposit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"wallet": "&lt;wallet&gt;",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"mint": "USDC_MINT",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"amount": "1000000000"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// ポジション確認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GET /lend/v1/positions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?wallet=&lt;wallet&gt;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4754880" y="3493008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APYはマーケットにより変動 / 担保率・清算リスクに注意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借り入れ（Borrow）はPOST /lend/v1/borrow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274320" y="4069080"/>
            <a:ext cx="8595360" cy="457200"/>
          </a:xfrm>
          <a:prstGeom prst="roundRect">
            <a:avLst>
              <a:gd fmla="val 16000" name="adj"/>
            </a:avLst>
          </a:prstGeom>
          <a:solidFill>
            <a:srgbClr val="FFF3E0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457200" y="4133088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450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B4500"/>
                </a:solidFill>
                <a:latin typeface="Calibri"/>
                <a:ea typeface="Calibri"/>
                <a:cs typeface="Calibri"/>
                <a:sym typeface="Calibri"/>
              </a:rPr>
              <a:t>🔑  x-api-key ヘッダーは全エンドポイント必須  |  portal.jup.ag でAPIキーを取得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365760" y="489204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© Jupiter × SuzuPay  |  Clawathon Tokyo Edition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822960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11 / 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D1A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2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SECTION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457200" y="173736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ハッカソンを勝ち抜くための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エラーハンドリング &amp; Gotchas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10 min  —  陥りやすい罠とリトライ戦略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0505"/>
          </a:solidFill>
          <a:ln cap="flat" cmpd="sng" w="12700">
            <a:solidFill>
              <a:srgbClr val="1A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Gotchas（陥りやすい罠）&amp; エラーコード対応表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320040" y="9144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⚠ Gotchas（罠リスト）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320040" y="1298448"/>
            <a:ext cx="4023360" cy="530352"/>
          </a:xfrm>
          <a:prstGeom prst="roundRect">
            <a:avLst>
              <a:gd fmla="val 13793" name="adj"/>
            </a:avLst>
          </a:prstGeom>
          <a:solidFill>
            <a:srgbClr val="FFF5F5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438912" y="1335024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⛔  TTL（有効期限）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438912" y="1572768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署名済みTxは約2分で失効→再クォート必須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320040" y="1892808"/>
            <a:ext cx="4023360" cy="530352"/>
          </a:xfrm>
          <a:prstGeom prst="roundRect">
            <a:avLst>
              <a:gd fmla="val 13793" name="adj"/>
            </a:avLst>
          </a:prstGeom>
          <a:solidFill>
            <a:srgbClr val="FFF5F5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438912" y="1929384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⛔  冪等性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438912" y="2167128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同じrequestId+signedTxで2分以内なら再送可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320040" y="2487168"/>
            <a:ext cx="4023360" cy="530352"/>
          </a:xfrm>
          <a:prstGeom prst="roundRect">
            <a:avLst>
              <a:gd fmla="val 13793" name="adj"/>
            </a:avLst>
          </a:prstGeom>
          <a:solidFill>
            <a:srgbClr val="FFF5F5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438912" y="2523744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⛔  Rate Limit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438912" y="2761488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50req/10s基本。Retry-Afterヘッダーを必ず確認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320040" y="3081528"/>
            <a:ext cx="4023360" cy="530352"/>
          </a:xfrm>
          <a:prstGeom prst="roundRect">
            <a:avLst>
              <a:gd fmla="val 13793" name="adj"/>
            </a:avLst>
          </a:prstGeom>
          <a:solidFill>
            <a:srgbClr val="FFF5F5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438912" y="3118104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⛔  署名エラー(-1003)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438912" y="3355848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全必要署名者が揃っているか確認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320040" y="3675888"/>
            <a:ext cx="4023360" cy="530352"/>
          </a:xfrm>
          <a:prstGeom prst="roundRect">
            <a:avLst>
              <a:gd fmla="val 13793" name="adj"/>
            </a:avLst>
          </a:prstGeom>
          <a:solidFill>
            <a:srgbClr val="FFF5F5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438912" y="3712464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⛔  /buildと/execute混用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438912" y="3950208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/buildのTxは自前RPC経由のみ。/executeに渡すと失敗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320040" y="4270248"/>
            <a:ext cx="4023360" cy="530352"/>
          </a:xfrm>
          <a:prstGeom prst="roundRect">
            <a:avLst>
              <a:gd fmla="val 13793" name="adj"/>
            </a:avLst>
          </a:prstGeom>
          <a:solidFill>
            <a:srgbClr val="FFF5F5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438912" y="4306824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⛔  payer指定時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438912" y="4544568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ルートがMetisのみに限定される（JupiterZ/DFlow除外）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4617720" y="91440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🔴 主要エラーコードと対処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9" name="Google Shape;329;p13"/>
          <p:cNvGraphicFramePr/>
          <p:nvPr/>
        </p:nvGraphicFramePr>
        <p:xfrm>
          <a:off x="4617720" y="1298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{02D63EA1-2E47-4CFC-8344-075A6E592374}</a:tableStyleId>
              </a:tblPr>
              <a:tblGrid>
                <a:gridCol w="594350"/>
                <a:gridCol w="1234450"/>
                <a:gridCol w="1828800"/>
                <a:gridCol w="54865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コード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分類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対処法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Retry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800"/>
                        <a:buFont typeface="Courier New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C039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-1</a:t>
                      </a:r>
                      <a:endParaRPr sz="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オーダー失効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A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再クォート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800"/>
                        <a:buFont typeface="Courier New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C039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-1000</a:t>
                      </a:r>
                      <a:endParaRPr sz="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ランディング失敗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A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パラメータ調整して再試行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800"/>
                        <a:buFont typeface="Courier New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C039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-1001</a:t>
                      </a:r>
                      <a:endParaRPr sz="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不明エラー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A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指数バックオフで再試行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800"/>
                        <a:buFont typeface="Courier New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C039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-1003</a:t>
                      </a:r>
                      <a:endParaRPr sz="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署名不足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A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全署名者を確認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800"/>
                        <a:buFont typeface="Courier New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C039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-1004</a:t>
                      </a:r>
                      <a:endParaRPr sz="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Blockhash失効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A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再クォート（TTL切れ）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800"/>
                        <a:buFont typeface="Courier New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C039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-2003</a:t>
                      </a:r>
                      <a:endParaRPr sz="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クォート失効(RFQ)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A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再クォート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800"/>
                        <a:buFont typeface="Courier New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C039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429</a:t>
                      </a:r>
                      <a:endParaRPr sz="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Rate Limit超過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A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Retry-After後に再試行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0" name="Google Shape;330;p13"/>
          <p:cNvSpPr/>
          <p:nvPr/>
        </p:nvSpPr>
        <p:spPr>
          <a:xfrm>
            <a:off x="365760" y="489204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© Jupiter × SuzuPay  |  Clawathon Tokyo Edition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822960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13 / 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リトライ戦略 &amp; ミニマム本番投入チェックリスト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320040" y="91440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指数バックオフ + ジッター（実装例）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320040" y="1234440"/>
            <a:ext cx="4114800" cy="242316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411480" y="1298448"/>
            <a:ext cx="3913632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async function withRetry(fn, maxAttempts=3) {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for (let i = 0; i &lt; maxAttempts; i++) {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try {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  return await fn();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} catch (err) {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  const retryable = [-1, -1000, -1001,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    -1004, -2000, -2001, -2003, 429]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    .includes(err.code);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  if (!retryable || i===maxAttempts-1)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    throw err;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  const base = Math.pow(2, i) * 1000;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  const jitter = Math.random() * 1000;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  await sleep(base + jitter);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  // -1/-1004/-2003: 必ず再クォート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  if ([-1,-1004,-2003].includes(err.code))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    await reQuote();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320040" y="3721608"/>
            <a:ext cx="4114800" cy="594360"/>
          </a:xfrm>
          <a:prstGeom prst="roundRect">
            <a:avLst>
              <a:gd fmla="val 12308" name="adj"/>
            </a:avLst>
          </a:prstGeom>
          <a:solidFill>
            <a:srgbClr val="EBF5FF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4"/>
          <p:cNvSpPr/>
          <p:nvPr/>
        </p:nvSpPr>
        <p:spPr>
          <a:xfrm>
            <a:off x="438912" y="3749040"/>
            <a:ext cx="38862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タイムアウト設定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クォート: 5秒  /  実行: 30秒  /  合計オペレーション: 60秒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4754880" y="91440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✅ ミニマム本番投入チェックリスト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4754880" y="1316736"/>
            <a:ext cx="274320" cy="274320"/>
          </a:xfrm>
          <a:prstGeom prst="ellipse">
            <a:avLst/>
          </a:prstGeom>
          <a:solidFill>
            <a:srgbClr val="00D084"/>
          </a:solidFill>
          <a:ln cap="flat" cmpd="sng" w="12700">
            <a:solidFill>
              <a:srgbClr val="00D0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4754880" y="131673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5102352" y="1289304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APIキー検証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5102352" y="1499616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起動時にx-api-key未設定なら即Fail Fast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4754880" y="1755648"/>
            <a:ext cx="274320" cy="274320"/>
          </a:xfrm>
          <a:prstGeom prst="ellipse">
            <a:avLst/>
          </a:prstGeom>
          <a:solidFill>
            <a:srgbClr val="00D084"/>
          </a:solidFill>
          <a:ln cap="flat" cmpd="sng" w="12700">
            <a:solidFill>
              <a:srgbClr val="00D0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4754880" y="175564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5102352" y="172821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タイムアウト設定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5102352" y="193852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全fetch呼び出しにAbortController追加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4754880" y="2194560"/>
            <a:ext cx="274320" cy="274320"/>
          </a:xfrm>
          <a:prstGeom prst="ellipse">
            <a:avLst/>
          </a:prstGeom>
          <a:solidFill>
            <a:srgbClr val="00D084"/>
          </a:solidFill>
          <a:ln cap="flat" cmpd="sng" w="12700">
            <a:solidFill>
              <a:srgbClr val="00D0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4754880" y="21945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5102352" y="2167128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リトライ対象の分類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5102352" y="237744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retryable/non-retryableをエラーコードで判定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4754880" y="2633472"/>
            <a:ext cx="274320" cy="274320"/>
          </a:xfrm>
          <a:prstGeom prst="ellipse">
            <a:avLst/>
          </a:prstGeom>
          <a:solidFill>
            <a:srgbClr val="00D084"/>
          </a:solidFill>
          <a:ln cap="flat" cmpd="sng" w="12700">
            <a:solidFill>
              <a:srgbClr val="00D0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4754880" y="263347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5102352" y="2606040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requestIdのロギング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5102352" y="2816352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全APIコールのrequestId + statusをログ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4754880" y="3072384"/>
            <a:ext cx="274320" cy="274320"/>
          </a:xfrm>
          <a:prstGeom prst="ellipse">
            <a:avLst/>
          </a:prstGeom>
          <a:solidFill>
            <a:srgbClr val="00D084"/>
          </a:solidFill>
          <a:ln cap="flat" cmpd="sng" w="12700">
            <a:solidFill>
              <a:srgbClr val="00D0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4754880" y="307238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5102352" y="304495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冪等性の確認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5102352" y="3255264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再送前に同Txが確定していないかチェック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4754880" y="3511296"/>
            <a:ext cx="274320" cy="274320"/>
          </a:xfrm>
          <a:prstGeom prst="ellipse">
            <a:avLst/>
          </a:prstGeom>
          <a:solidFill>
            <a:srgbClr val="00D084"/>
          </a:solidFill>
          <a:ln cap="flat" cmpd="sng" w="12700">
            <a:solidFill>
              <a:srgbClr val="00D0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4754880" y="351129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5102352" y="3483864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Slippage上限設定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5102352" y="3694176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アプリ設定から最大スリッページを強制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4754880" y="3950208"/>
            <a:ext cx="274320" cy="274320"/>
          </a:xfrm>
          <a:prstGeom prst="ellipse">
            <a:avLst/>
          </a:prstGeom>
          <a:solidFill>
            <a:srgbClr val="00D084"/>
          </a:solidFill>
          <a:ln cap="flat" cmpd="sng" w="12700">
            <a:solidFill>
              <a:srgbClr val="00D0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4754880" y="39502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5102352" y="392277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残高・アドレス検証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5102352" y="413308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実行前にmintアドレスと残高を確認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365760" y="489204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© Jupiter × SuzuPay  |  Clawathon Tokyo Edition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822960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14 / 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00C2FF"/>
          </a:solidFill>
          <a:ln cap="flat" cmpd="sng" w="12700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Q&amp;A・クロージング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15"/>
          <p:cNvCxnSpPr/>
          <p:nvPr/>
        </p:nvCxnSpPr>
        <p:spPr>
          <a:xfrm>
            <a:off x="457200" y="1234440"/>
            <a:ext cx="8229600" cy="0"/>
          </a:xfrm>
          <a:prstGeom prst="straightConnector1">
            <a:avLst/>
          </a:prstGeom>
          <a:noFill/>
          <a:ln cap="flat" cmpd="sng" w="19050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15"/>
          <p:cNvSpPr/>
          <p:nvPr/>
        </p:nvSpPr>
        <p:spPr>
          <a:xfrm>
            <a:off x="457200" y="1371600"/>
            <a:ext cx="2697480" cy="3200400"/>
          </a:xfrm>
          <a:prstGeom prst="roundRect">
            <a:avLst>
              <a:gd fmla="val 5085" name="adj"/>
            </a:avLst>
          </a:prstGeom>
          <a:solidFill>
            <a:srgbClr val="0C1A2E"/>
          </a:solidFill>
          <a:ln cap="flat" cmpd="sng" w="19050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457200" y="141732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457200" y="19202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FF"/>
              </a:buClr>
              <a:buSzPts val="13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00C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質疑応答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6" name="Google Shape;386;p15"/>
          <p:cNvCxnSpPr/>
          <p:nvPr/>
        </p:nvCxnSpPr>
        <p:spPr>
          <a:xfrm>
            <a:off x="731520" y="2304288"/>
            <a:ext cx="2148840" cy="0"/>
          </a:xfrm>
          <a:prstGeom prst="straightConnector1">
            <a:avLst/>
          </a:prstGeom>
          <a:noFill/>
          <a:ln cap="flat" cmpd="sng" w="9525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" name="Google Shape;387;p15"/>
          <p:cNvSpPr/>
          <p:nvPr/>
        </p:nvSpPr>
        <p:spPr>
          <a:xfrm>
            <a:off x="640080" y="2395728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• Jupiter API全般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640080" y="281635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• Agent Skills実装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640080" y="3236976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• ハッカソンアイデア相談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640080" y="36576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• エラーデバッグ支援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3337560" y="1371600"/>
            <a:ext cx="2697480" cy="3200400"/>
          </a:xfrm>
          <a:prstGeom prst="roundRect">
            <a:avLst>
              <a:gd fmla="val 5085" name="adj"/>
            </a:avLst>
          </a:prstGeom>
          <a:solidFill>
            <a:srgbClr val="0C1A2E"/>
          </a:solidFill>
          <a:ln cap="flat" cmpd="sng" w="19050">
            <a:solidFill>
              <a:srgbClr val="00D0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3337560" y="19202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084"/>
              </a:buClr>
              <a:buSzPts val="13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00D0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リソース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15"/>
          <p:cNvCxnSpPr/>
          <p:nvPr/>
        </p:nvCxnSpPr>
        <p:spPr>
          <a:xfrm>
            <a:off x="3611880" y="2304288"/>
            <a:ext cx="2148840" cy="0"/>
          </a:xfrm>
          <a:prstGeom prst="straightConnector1">
            <a:avLst/>
          </a:prstGeom>
          <a:noFill/>
          <a:ln cap="flat" cmpd="sng" w="9525">
            <a:solidFill>
              <a:srgbClr val="00D0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" name="Google Shape;395;p15"/>
          <p:cNvSpPr/>
          <p:nvPr/>
        </p:nvSpPr>
        <p:spPr>
          <a:xfrm>
            <a:off x="3520440" y="2395728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• dev.jup.ag (公式ドキュメント)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3520440" y="281635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• portal.jup.ag (APIキー取得)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3520440" y="3236976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• github.com/jup-ag/agent-skills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3520440" y="36576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• discord.gg/jupiter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6217920" y="1371600"/>
            <a:ext cx="2697480" cy="3200400"/>
          </a:xfrm>
          <a:prstGeom prst="roundRect">
            <a:avLst>
              <a:gd fmla="val 5085" name="adj"/>
            </a:avLst>
          </a:prstGeom>
          <a:solidFill>
            <a:srgbClr val="0C1A2E"/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6217920" y="141732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6217920" y="19202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Clawathon Tokyo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2" name="Google Shape;402;p15"/>
          <p:cNvCxnSpPr/>
          <p:nvPr/>
        </p:nvCxnSpPr>
        <p:spPr>
          <a:xfrm>
            <a:off x="6492240" y="2304288"/>
            <a:ext cx="2148840" cy="0"/>
          </a:xfrm>
          <a:prstGeom prst="straightConnector1">
            <a:avLst/>
          </a:prstGeom>
          <a:noFill/>
          <a:ln cap="flat" cmpd="sng" w="952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15"/>
          <p:cNvSpPr/>
          <p:nvPr/>
        </p:nvSpPr>
        <p:spPr>
          <a:xfrm>
            <a:off x="6400800" y="2395728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• テーマ: AI × DeFi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6400800" y="281635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• Jupiterスポンサー賞あり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6400800" y="3236976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• SuzuPayコラボトラック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6400800" y="36576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• 詳細はアンケートで通知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ご参加ありがとうございました  🙏  Build something amazing on Jupiter!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2026-03-27T14:46:08Z</dcterms:created>
  <dc:creator>PptxGenJS</dc:creator>
</cp:coreProperties>
</file>